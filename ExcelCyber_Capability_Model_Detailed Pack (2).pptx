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sldIdLst>
    <p:sldId id="256" r:id="rId5"/>
    <p:sldId id="257" r:id="rId6"/>
    <p:sldId id="30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E0EFF-3E75-CE47-8DDB-BFA4663DF21C}" v="20" dt="2026-04-21T12:05:16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8"/>
    <p:restoredTop sz="96420"/>
  </p:normalViewPr>
  <p:slideViewPr>
    <p:cSldViewPr snapToGrid="0" snapToObjects="1">
      <p:cViewPr>
        <p:scale>
          <a:sx n="141" d="100"/>
          <a:sy n="141" d="100"/>
        </p:scale>
        <p:origin x="1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Charavanapavan" userId="17aa04a1-3924-4d60-95df-0642b6b075bc" providerId="ADAL" clId="{A8FB5699-43A8-583A-97EC-C4DB2A9A1E02}"/>
    <pc:docChg chg="addSld delSld modSld sldOrd">
      <pc:chgData name="Sanjay Charavanapavan" userId="17aa04a1-3924-4d60-95df-0642b6b075bc" providerId="ADAL" clId="{A8FB5699-43A8-583A-97EC-C4DB2A9A1E02}" dt="2026-04-21T12:05:16.581" v="35" actId="20577"/>
      <pc:docMkLst>
        <pc:docMk/>
      </pc:docMkLst>
      <pc:sldChg chg="modSp mod">
        <pc:chgData name="Sanjay Charavanapavan" userId="17aa04a1-3924-4d60-95df-0642b6b075bc" providerId="ADAL" clId="{A8FB5699-43A8-583A-97EC-C4DB2A9A1E02}" dt="2026-04-16T05:45:29.539" v="15" actId="20577"/>
        <pc:sldMkLst>
          <pc:docMk/>
          <pc:sldMk cId="0" sldId="256"/>
        </pc:sldMkLst>
        <pc:spChg chg="mod">
          <ac:chgData name="Sanjay Charavanapavan" userId="17aa04a1-3924-4d60-95df-0642b6b075bc" providerId="ADAL" clId="{A8FB5699-43A8-583A-97EC-C4DB2A9A1E02}" dt="2026-04-16T05:45:29.539" v="1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Sanjay Charavanapavan" userId="17aa04a1-3924-4d60-95df-0642b6b075bc" providerId="ADAL" clId="{A8FB5699-43A8-583A-97EC-C4DB2A9A1E02}" dt="2026-04-21T12:05:16.581" v="35" actId="20577"/>
        <pc:sldMkLst>
          <pc:docMk/>
          <pc:sldMk cId="0" sldId="261"/>
        </pc:sldMkLst>
        <pc:graphicFrameChg chg="modGraphic">
          <ac:chgData name="Sanjay Charavanapavan" userId="17aa04a1-3924-4d60-95df-0642b6b075bc" providerId="ADAL" clId="{A8FB5699-43A8-583A-97EC-C4DB2A9A1E02}" dt="2026-04-21T12:05:16.581" v="35" actId="2057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add mod setBg">
        <pc:chgData name="Sanjay Charavanapavan" userId="17aa04a1-3924-4d60-95df-0642b6b075bc" providerId="ADAL" clId="{A8FB5699-43A8-583A-97EC-C4DB2A9A1E02}" dt="2026-04-21T12:04:54.171" v="28" actId="20577"/>
        <pc:sldMkLst>
          <pc:docMk/>
          <pc:sldMk cId="0" sldId="304"/>
        </pc:sldMkLst>
        <pc:spChg chg="mod">
          <ac:chgData name="Sanjay Charavanapavan" userId="17aa04a1-3924-4d60-95df-0642b6b075bc" providerId="ADAL" clId="{A8FB5699-43A8-583A-97EC-C4DB2A9A1E02}" dt="2026-04-21T12:04:54.171" v="28" actId="20577"/>
          <ac:spMkLst>
            <pc:docMk/>
            <pc:sldMk cId="0" sldId="304"/>
            <ac:spMk id="24" creationId="{00000000-0000-0000-0000-000000000000}"/>
          </ac:spMkLst>
        </pc:spChg>
        <pc:spChg chg="mod">
          <ac:chgData name="Sanjay Charavanapavan" userId="17aa04a1-3924-4d60-95df-0642b6b075bc" providerId="ADAL" clId="{A8FB5699-43A8-583A-97EC-C4DB2A9A1E02}" dt="2026-04-16T05:43:31.955" v="4" actId="14100"/>
          <ac:spMkLst>
            <pc:docMk/>
            <pc:sldMk cId="0" sldId="304"/>
            <ac:spMk id="185" creationId="{00000000-0000-0000-0000-000000000000}"/>
          </ac:spMkLst>
        </pc:spChg>
        <pc:spChg chg="mod">
          <ac:chgData name="Sanjay Charavanapavan" userId="17aa04a1-3924-4d60-95df-0642b6b075bc" providerId="ADAL" clId="{A8FB5699-43A8-583A-97EC-C4DB2A9A1E02}" dt="2026-04-16T05:43:42.530" v="11" actId="1035"/>
          <ac:spMkLst>
            <pc:docMk/>
            <pc:sldMk cId="0" sldId="304"/>
            <ac:spMk id="18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08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3D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ADVISORY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 ·  Detailed L1 and L2 capability reference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 risk &amp; assure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capabilities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5029200"/>
            <a:ext cx="640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8348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defend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capabilities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5029200"/>
            <a:ext cx="640080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4108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capabilities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client engagement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4C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pack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organise the model: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Govern, risk &amp; assure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Protect &amp; defend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Identity &amp;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contains L1 capabilities. Each L1 capability is decomposed into 4 L2 sub-capabilities with descriptions to support assessment, scoping and design conversations.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assessments — score each capability on a 1-5 maturity scale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against ISO 27001:2022, NIST CSF 2.0, POPIA and PCI DSS 4.0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 and roadmap design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prioritisation and budget articulation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preparation and regulator engagement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scoping and proposal development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7F5F0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alignment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 ·  ISO/IEC 27002:2022  ·  ISO/IEC 27701  ·  ISO/IEC 42001  ·  NIST CSF 2.0  ·  NIST AI RMF  ·  NIST PQC (FIPS 203/204/205)  ·  CIS Controls v8.1  ·  PCI DSS 4.0  ·  POPIA  ·  GDPR  ·  SARB Joint Standard 2 of 2024  ·  King IV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2240"/>
          </a:xfrm>
          <a:prstGeom prst="rect">
            <a:avLst/>
          </a:prstGeom>
          <a:solidFill>
            <a:srgbClr val="0F4C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3842" y="914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CAPABILITY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3842" y="32569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security capability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3842" y="7176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 ·  33 capabilities  ·  audit-defensible  ·  future-aligned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37862" y="91440"/>
            <a:ext cx="1280160" cy="750404"/>
          </a:xfrm>
          <a:prstGeom prst="rect">
            <a:avLst/>
          </a:prstGeom>
          <a:solidFill>
            <a:srgbClr val="0A3D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37862" y="21133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37862" y="54966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0402" y="1260944"/>
            <a:ext cx="1242878" cy="141732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5797" y="1352384"/>
            <a:ext cx="1513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8153" y="1763864"/>
            <a:ext cx="14049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assure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797" y="2431376"/>
            <a:ext cx="1513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D5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capabilities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68144" y="1315808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13864" y="1352384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program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05367" y="149948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4720" y="1515452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roadmap, board reporting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71898" y="1315808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17618" y="1352384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9121" y="149948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8474" y="1515452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risk register, FAIR quantification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75652" y="1315808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21372" y="1352384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12875" y="149948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28" y="1515452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ISO, PCI, sector regulations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379406" y="1315808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25126" y="1352384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016628" y="149948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15982" y="1515452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audit, control testing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568144" y="1769960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13864" y="1806536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05367" y="1953632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04720" y="1969604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RMF, ISO 42001, model risk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171898" y="1769960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17618" y="1806536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program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9121" y="1953632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8474" y="1969604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DPIAs, consent, cross-border transfers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75652" y="1769960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21372" y="1806536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&amp; supply chain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12875" y="1953632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12228" y="1969604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risk, SBOM policy, concentration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379406" y="1769960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25126" y="1806536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16628" y="1953632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15982" y="1969604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strategy, evidence, claims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68144" y="2224112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613864" y="2260688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&amp; awareness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05367" y="2407784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604720" y="2423756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sim, culture, behaviour analytics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71898" y="2224112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17618" y="2260688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standards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9121" y="2407784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208474" y="2423756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framework, exception management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775652" y="2224112"/>
            <a:ext cx="2548890" cy="399288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21372" y="2260688"/>
            <a:ext cx="2457450" cy="16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reporting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12875" y="2407784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12228" y="2423756"/>
            <a:ext cx="2475738" cy="19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KRIs, KPIs, board dashboards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0402" y="2787992"/>
            <a:ext cx="1242878" cy="196596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15797" y="2879432"/>
            <a:ext cx="1513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78153" y="3290912"/>
            <a:ext cx="140499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defend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5797" y="4507064"/>
            <a:ext cx="1513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B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r>
              <a:rPr lang="en-US" sz="800" i="1" dirty="0">
                <a:solidFill>
                  <a:srgbClr val="D5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568144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613864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88387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604720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ZTNA, microsegmentation, policy engine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303980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349700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724223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340556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CNAPP, CSPM, CWPP, CIEM, SSPM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039816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85536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mobile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460059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076392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EDR, MDM, MTD, hardening, patching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775652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821372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perimeter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195895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812228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SASE, SWG, email, DDoS, DNS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511488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557208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931731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548064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guest segregation, rogue AP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247324" y="2842856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293044" y="2879432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product security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0667567" y="3037395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283900" y="3054311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DevSecOps, SAST/DAST, SCA, API security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568144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613864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hardening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988387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604720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CIS, STIGs, baselines, drift, IaC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303980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349700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724223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340556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CTEM, attack surface, pen test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039816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085536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 ops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460059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076392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SBOM, SLSA, build integrity, signing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775652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821372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operations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195895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812228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inventory, PKI, PQC migration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511488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8557208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931731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548064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XDR, SOAR, threat hunting, MDR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0247324" y="3320630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293044" y="3357206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0667567" y="3515169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283900" y="3532085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CTI, deception, brand protection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568144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613864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transactional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1988387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604720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monitoring, FICA, AML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3303980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3349700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&amp; DFIR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724223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340556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handling, insider threat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5039816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5085536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 ops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5460059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5076392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triage, agent governance, oversight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775652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821372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telemetry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195895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6812228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coverage, retention, integrity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8511488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8557208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8931731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8548064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backups, IR plan, tabletops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0247324" y="3798404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0293044" y="3834980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continuity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0667567" y="3992943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0283900" y="4009859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BCM, DR, RTO/RPO, crisis management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568144" y="4276178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1613864" y="4312754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capacity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1988387" y="4470717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1604720" y="4487633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capacity, exhaustion defence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03980" y="4276178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3349700" y="4312754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/ IoT / smart bldg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724223" y="4470717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3340556" y="4487633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visibility, IT/OT segmentation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039816" y="4276178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5085536" y="4312754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environmental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5460059" y="4470717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5076392" y="4487633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access, CCTV, secure disposal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775652" y="4276178"/>
            <a:ext cx="1680972" cy="42291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6821372" y="4312754"/>
            <a:ext cx="1589532" cy="177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7195895" y="4470717"/>
            <a:ext cx="840486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6812228" y="4487633"/>
            <a:ext cx="160782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CMDB, HW/SW inventory, shadow IT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70402" y="4863680"/>
            <a:ext cx="1242878" cy="91440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/>
          <p:nvPr/>
        </p:nvSpPr>
        <p:spPr>
          <a:xfrm>
            <a:off x="115797" y="4955120"/>
            <a:ext cx="1513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1" name="Text 149"/>
          <p:cNvSpPr/>
          <p:nvPr/>
        </p:nvSpPr>
        <p:spPr>
          <a:xfrm>
            <a:off x="178153" y="5366600"/>
            <a:ext cx="140499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115797" y="5531192"/>
            <a:ext cx="1513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>
                <a:solidFill>
                  <a:srgbClr val="F2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800" i="1" dirty="0">
                <a:solidFill>
                  <a:srgbClr val="D5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568144" y="4918544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1613864" y="4955120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identity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2205367" y="509100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1604720" y="5105996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MFA, IGA, PAM, ITDR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171898" y="4918544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/>
          <p:nvPr/>
        </p:nvSpPr>
        <p:spPr>
          <a:xfrm>
            <a:off x="4217618" y="4955120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 (CIAM)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4809121" y="509100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4208474" y="5105996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fraud, consent, passwordless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6775652" y="4918544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6821372" y="4955120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 identity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7412875" y="509100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/>
          <p:nvPr/>
        </p:nvSpPr>
        <p:spPr>
          <a:xfrm>
            <a:off x="6812228" y="5105996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accounts, secrets, API keys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379406" y="4918544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164"/>
          <p:cNvSpPr/>
          <p:nvPr/>
        </p:nvSpPr>
        <p:spPr>
          <a:xfrm>
            <a:off x="9425126" y="4955120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&amp; posture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10016628" y="5091000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/>
          <p:nvPr/>
        </p:nvSpPr>
        <p:spPr>
          <a:xfrm>
            <a:off x="9415982" y="5105996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DSPM, classification, lineage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1568144" y="5348312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/>
          <p:nvPr/>
        </p:nvSpPr>
        <p:spPr>
          <a:xfrm>
            <a:off x="1613864" y="5384888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2205367" y="5520768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/>
          <p:nvPr/>
        </p:nvSpPr>
        <p:spPr>
          <a:xfrm>
            <a:off x="1604720" y="5535764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DLP, encryption, masking, tokenisation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4171898" y="5348312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/>
          <p:nvPr/>
        </p:nvSpPr>
        <p:spPr>
          <a:xfrm>
            <a:off x="4217618" y="5384888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trust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4809121" y="5520768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/>
          <p:nvPr/>
        </p:nvSpPr>
        <p:spPr>
          <a:xfrm>
            <a:off x="4208474" y="5535764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AI, prompt &amp; model security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6775652" y="5348312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/>
          <p:nvPr/>
        </p:nvSpPr>
        <p:spPr>
          <a:xfrm>
            <a:off x="6821372" y="5384888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data lifecycle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7412875" y="5520768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/>
          <p:nvPr/>
        </p:nvSpPr>
        <p:spPr>
          <a:xfrm>
            <a:off x="6812228" y="5535764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legal hold, secure disposal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9379406" y="5348312"/>
            <a:ext cx="2548890" cy="374904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9425126" y="5384888"/>
            <a:ext cx="2457450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10016628" y="5520768"/>
            <a:ext cx="1274445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9415982" y="5535764"/>
            <a:ext cx="2475738" cy="179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DSAR processing, complaints, regulator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0" y="6140352"/>
            <a:ext cx="12192000" cy="725864"/>
          </a:xfrm>
          <a:prstGeom prst="rect">
            <a:avLst/>
          </a:prstGeom>
          <a:solidFill>
            <a:srgbClr val="2C2C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/>
          <p:nvPr/>
        </p:nvSpPr>
        <p:spPr>
          <a:xfrm>
            <a:off x="263020" y="631757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C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FRAMEWORKS ALIGNMENT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263020" y="6500456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  ·  NIST CSF 2.0  ·  CIS Controls v8.1  ·  PCI DSS 4.0  ·  POPIA  ·  SARB JS 2/2024  ·  NIST AI RMF  ·  ISO 42001  ·  NIST PQC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9378250" y="638405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Advisory  |  Excellenta Cyber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 risk &amp; assure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oversight, accountability — 11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solidFill>
            <a:srgbClr val="EFEC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tier sets direction, allocates accountability, manages risk and demonstrates compliance. This is where the security programme integrates with enterprise risk, board oversight, regulators and insurers.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program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0008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42816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35624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28432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28432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21240" y="2606040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program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&amp; supply chain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50008" y="3355848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50008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42816" y="3355848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42816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&amp; awareness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3355848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35624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standards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28432" y="3355848"/>
            <a:ext cx="1783080" cy="640080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28432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&amp;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 security vision aligned to enterprise strategy and risk appetite.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roadmap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Prioritised initiatives, dependencies, investment plans and delivery milestones.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Centralised, federated or hybrid security operating model with clear RACI.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Cadence, format and content of board and executive committee reporting.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 of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risk register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Identification, assessment, treatment and tracking of cyber risks.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appetite &amp; tolerance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 statements defining acceptable risk by category.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quantification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or equivalent quantification translating risk into financial terms.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&amp; scenario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analysis of plausible attack scenarios and impact.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 of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312282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of applicable laws, regulations and contractual obligations.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to ISO 27001, NIST CSF, PCI DSS, Privacy and sector requirements.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monitoring of control effectiveness and obligation status.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process for breach, incident and supervisory reporting.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3 of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 liaison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 planning, evidence collection and remediation tracking.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audit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for ISO, SOC, PCI and regulator-led assessments.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testing of design and operating effectiveness.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controls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Automated, continuous evidence collection and control validation.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4 of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policy &amp; standards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 use, prohibited use cases, approval gates and controls.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risk assessment, bias testing, explainability and oversight.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inventory &amp; BoM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inventory of AI systems, models, data and dependencies.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alignment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to NIST AI RMF, ISO 42001, EU AI Act and SA guidance.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5 of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Officer, privacy committee and accountability structure.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DPIAs &amp; PIAs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impact assessments for new processing, products and vendors.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 basis, consent capture, withdrawal and preference management.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transfers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Adequacy, contracts and safeguards for international data flows.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6 of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&amp; supply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risk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Tiering, due diligence, ongoing monitoring and exit planning.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posture (governance)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risk classification and policy for SaaS adoption.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SBOM &amp; software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and oversight for software bill of materials across the estate.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Identification and management of cloud, vendor and platform concentration.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7 of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strategy, limits, sub-limits and exclusion analysis.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Underwriter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attestations, evidence packs and renewal preparation.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process, panel coordination and claims execution.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Insurance-grade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insurer-required controls to internal control library.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8 of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&amp; awareness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culture programme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 programme to embed security into culture and behaviour.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simulation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phishing campaigns with measurement and targeted intervention.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Tailored training for high-risk roles, developers and executives.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 human risk scoring and targeted remediation.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9 of 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&amp; standards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hierarchy, ownership, approval and lifecycle management.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Definition, maintenance and retirement of technical standards.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 exception process with expiry and compensating controls.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awareness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Communication, attestation and tracking of policy acknowledgement.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10 of 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5D4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 · GOVERN, RISK &amp; ASSURE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reporting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 &amp;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risk and performance indicators with thresholds.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dashboards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dashboards for CISO, ExCo and board audiences.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formats and cadence for regulatory submissions.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D4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trend analysis and external peer benchmarking.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11 of 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defend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controls, detection, response, recovery — 22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solidFill>
            <a:srgbClr val="E1F0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tier where security is delivered. Capabilities span architecture, preventative controls, detection, response and recovery, and the foundational operational disciplines that underpin all of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0008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42816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42816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mobile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35624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perimeter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28432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28432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21240" y="2606040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2606040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product security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hardening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50008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50008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42816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42816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 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35624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35624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operations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28432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28432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21240" y="3355848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21240" y="3355848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transactional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50008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50008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&amp; DFIR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42816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42816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 ops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5624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35624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telemetry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28432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28432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921240" y="4105656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921240" y="4105656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continuity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855464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855464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capacity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50008" y="4855464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50008" y="4855464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/ IoT / smart bldg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42816" y="4855464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42816" y="4855464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environmental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35624" y="4855464"/>
            <a:ext cx="1783080" cy="640080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35624" y="4855464"/>
            <a:ext cx="1783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Identity-aware, context-based access to applications replacing legacy VPN.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Workload-level segmentation reducing lateral movement.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decision &amp; enforcement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policy engine with distributed enforcement 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trust evaluation based on device, user and behaviour signals.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 of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security posture management for misconfiguration detection.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workload protection for VMs, containers and serverless.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infrastructure entitlement management for cloud permissions.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security posture (SSPM)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risk monitoring across SaaS applications.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 of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mobile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EDR / XDR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Behavioural detection, response and forensics on endpoints.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device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MDM, MAM and mobile threat defence for managed devices.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hardening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hardening, application control and privilege management.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&amp; update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Timely patching across operating systems and applications.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3 of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perimeter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SASE / 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Converged secure access service edge with SWG, CASB and FWaaS.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Anti-phishing, anti-spoofing, BEC protection and DMARC enforcement.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&amp; web filtering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Protective DNS, URL filtering and threat intelligence integration.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Volumetric and application-layer DDoS mitigation.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4 of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Wi-Fi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WPA3, certificate-based authentication and segmentation.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guest access with content filtering and bandwidth control.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Rogue AP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intrusion detection and rogue access point response.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IoT-on-Wi-Fi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IoT SSIDs with restricted segmentation.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5 of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product security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DevSecOps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integrated into CI/CD pipelines and developer workflows.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/ DAST / IAST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Static, dynamic and interactive application security testing.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composition analysis for open source dependencies.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discovery, schema validation, abuse detection and rate limiting.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6 of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hardening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baselines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Benchmarks, DISA STIGs or equivalent baseline definitions.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of configuration drift from approved baselines.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Hardened, versioned base images for consistent deployment.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Infrastructure-as-code scanning and policy-as-code enforcement.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7 of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scanning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scanning across infrastructure, apps and cloud.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threat exposure management — prioritised, threat-informed.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surface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attack surface discovery and monitoring.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Penetration &amp; red teaming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testing and adversary simulation.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8 of 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supply chain 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SBOM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Generation, storage and querying of SBOMs across the portfolio.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pipeline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SLSA-aligned controls protecting build environments and artifacts.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scanning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scanning of dependencies for vulnerabilities and malicious packages.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 signing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signing and verification of software artifacts.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9 of 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and inventory of cryptography across applications and infrastructure.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&amp; certificate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lifecycle management, root trust and revocation.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&amp; secrets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KMS, HSM and secrets vaults with rotation and access governance.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Post-quantum migration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Crypto-agility programme and migration to PQC standards.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10 of 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&amp; log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log aggregation, correlation and investigation.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XDR / SOAR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detection and orchestrated response across telemetry sources.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hunting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Proactive, hypothesis-driven hunting for undetected threats.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/ managed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or co-managed 24x7 detection and response capability.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11 of 22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CTI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Adversary tracking, geopolitical context and executive briefings.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 &amp; technical CTI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IOCs, TTPs and detection content shared with operations.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exec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monitoring for brand abuse and executive impersonation.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Deception 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Honeypots, honey tokens and decoy assets for early detection.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12 of 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transactional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Transaction-level fraud detection and prevention.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rules &amp; ML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and machine learning detection models.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&amp; AML alignment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regulatory financial crime obligations.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case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workflow, recovery and reporting.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13 of 22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&amp; DFIR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forensics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Acquisition, preservation and analysis of digital evidence.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IR playbooks, retainers and command structure.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threat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and investigation of insider risk and misuse.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custody, legal admissibility and litigation support.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14 of 22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 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triage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AI agents for alert enrichment and triage.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autonomous actions for well-defined response scenarios.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Oversight, guardrails and audit trails for AI agents in security ops.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human approval points for high-impact actions.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15 of 22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telemetry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logging requirements across infrastructure, apps and cloud.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&amp; archival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retention aligned to investigation, audit and legal needs.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Tamper-evident, reliable telemetry pipelines and quality monitoring.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routing, sampling and cost optimisation.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16 of 22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backups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Air-gapped, immutable backups for ransomware recovery.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Regular, realistic testing of recovery time and integrity.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Documented, tested cyber incident response plan.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Tabletop exercises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and technical tabletop exercises with measurable outcomes.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17 of 22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continuity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continuity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BIA-driven continuity plans for critical business processes.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 recovery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RTO and RPO per service with tested DR procedures.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command structure, communications and decision authority.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continuity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arrangements and exit plans for critical suppliers.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18 of 22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capacity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and performance monitoring for security-relevant services.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planning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Forward-looking capacity for security infrastructure and telemetry.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exhaustion defence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against resource exhaustion attacks.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health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Service-level reporting for security platforms and shared services.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19 of 22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/ IoT / smart bldg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 asset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and inventory of operational technology assets.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IT/OT segmentation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segmentation and conduit controls between IT and OT.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building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for BMS, access control, CCTV and other building systems.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Onboarding, monitoring and decommissioning of IoT devices.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20 of 22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environmental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access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control, visitor management and tailgating prevention.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suppression, power, cooling and physical resilience.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desk &amp; secure 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 controls for paper, screens and removable media.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disposal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destruction of media, hardware and physical records.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21 of 22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 · PROTECT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 inventory of all hardware assets.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inventory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 inventory of installed software and versions.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IT 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of unsanctioned applications and services.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from procurement through decommissioning and EoL.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22 of 22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data — the new perimeters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on what matters most: who, and what — 8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solidFill>
            <a:srgbClr val="F8E8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data are the modern perimeters. This tier elevates them to first-class citizens with their own architectural and operational disciplines, recognising that traditional network boundaries no longer define security boundaries.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identity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6412" y="2606040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6412" y="2606040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 (CIAM)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2606040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35624" y="2606040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 identity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4836" y="2606040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74836" y="2606040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&amp; posture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6412" y="3355848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6412" y="3355848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trust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3355848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35624" y="3355848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data lifecycle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4836" y="3355848"/>
            <a:ext cx="2729484" cy="640080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74836" y="3355848"/>
            <a:ext cx="272948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identity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&amp; MFA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sign-on with phishing-resistant multi-factor authentication.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governance (IGA)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Joiner-mover-leaver, access reviews and certifications.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 access (PAM)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Vaulting, just-in-time access and session monitoring for privileged accounts.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threat detection (ITDR)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of identity-based attacks and anomalous behaviour.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1 of 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 (CIAM)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authentication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Risk-based, passwordless and biometric authentication for customers.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&amp; abuse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takeover, bot and fraud detection at authentication.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&amp; preferences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Privacy-aligned consent capture and preference management.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&amp; social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Federation, social login and verifiable credentials integration.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2 of 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Non-human identity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ownership, rotation and decommissioning of service accounts.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secrets vault with rotation and least-privilege access.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&amp; token lifecycle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management for API keys, tokens and certificates.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identity federation and short-lived credentials.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3 of 8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 &amp; posture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discovery &amp;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discovery and classification across data stores.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 posture management across cloud and SaaS.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lineage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of data flow from source to consumption.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&amp; stewardship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data owners, stewards and accountability.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4 of 8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prevention across endpoint, network, email and cloud.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 &amp; in transit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Pervasive encryption with appropriate key management.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Tokenisation &amp; masking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Tokenisation and dynamic masking for sensitive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Rights management (IRM)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protection following data outside the perimeter.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5 of 8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trust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 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and inventory of unsanctioned AI usage.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&amp; input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 against prompt injection and adversarial inputs.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against model theft, evasion and poisoning.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data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on training data, fine-tuning data and RAG inputs.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6 of 8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data lifecycle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schedules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retention by record class with regulatory alignment.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for placing and releasing legal holds on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disposal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disposal of data at end of retention.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archival with integrity, accessibility and cost optimisation.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7 of 8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C44D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 · IDENTITY &amp;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sub-capabilities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343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sub-capability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4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DSAR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for handling data subject access requests within statutory timeframes.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management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management of consent state across systems.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Complaints 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for receiving, investigating and resolving privacy complaints.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44D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liaison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liaison with the Information Regulator and other authorities.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3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capability 8 of 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4C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this model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framework to outcome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3657600" cy="2103120"/>
          </a:xfrm>
          <a:prstGeom prst="rect">
            <a:avLst/>
          </a:prstGeom>
          <a:solidFill>
            <a:srgbClr val="0A3D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assessment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current and target maturity per L1 capability with weighted gap analysis.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3200400"/>
            <a:ext cx="3657600" cy="2103120"/>
          </a:xfrm>
          <a:prstGeom prst="rect">
            <a:avLst/>
          </a:prstGeom>
          <a:solidFill>
            <a:srgbClr val="0A3D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investment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4343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Prioritised, sequenced initiatives with cost, effort and dependency analysis.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200400"/>
            <a:ext cx="3657600" cy="2103120"/>
          </a:xfrm>
          <a:prstGeom prst="rect">
            <a:avLst/>
          </a:prstGeom>
          <a:solidFill>
            <a:srgbClr val="0A3D4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343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RACI, headcount, organisation design and sourcing strategy aligned to the model.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Advisory  |  advisory@yourfirm.co.za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ED5E569D553A40AE8A0585BABBF674" ma:contentTypeVersion="20" ma:contentTypeDescription="Create a new document." ma:contentTypeScope="" ma:versionID="69962afcbc7d0d695a8415b2af1da390">
  <xsd:schema xmlns:xsd="http://www.w3.org/2001/XMLSchema" xmlns:xs="http://www.w3.org/2001/XMLSchema" xmlns:p="http://schemas.microsoft.com/office/2006/metadata/properties" xmlns:ns1="http://schemas.microsoft.com/sharepoint/v3" xmlns:ns2="d4108fd0-bac5-48aa-9f20-39453d102dac" xmlns:ns3="2af0a221-e6e5-4f13-a0b5-c8b7582ab823" targetNamespace="http://schemas.microsoft.com/office/2006/metadata/properties" ma:root="true" ma:fieldsID="88f32bf29dcf5c915d2fa75d1369b42b" ns1:_="" ns2:_="" ns3:_="">
    <xsd:import namespace="http://schemas.microsoft.com/sharepoint/v3"/>
    <xsd:import namespace="d4108fd0-bac5-48aa-9f20-39453d102dac"/>
    <xsd:import namespace="2af0a221-e6e5-4f13-a0b5-c8b7582ab8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108fd0-bac5-48aa-9f20-39453d102d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81ea830-9816-48f6-ba24-d43424c7b7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f0a221-e6e5-4f13-a0b5-c8b7582ab82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eb28924-3f76-4bee-8c85-82eee0b797df}" ma:internalName="TaxCatchAll" ma:showField="CatchAllData" ma:web="2af0a221-e6e5-4f13-a0b5-c8b7582ab8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d4108fd0-bac5-48aa-9f20-39453d102dac">
      <Terms xmlns="http://schemas.microsoft.com/office/infopath/2007/PartnerControls"/>
    </lcf76f155ced4ddcb4097134ff3c332f>
    <_ip_UnifiedCompliancePolicyProperties xmlns="http://schemas.microsoft.com/sharepoint/v3" xsi:nil="true"/>
    <TaxCatchAll xmlns="2af0a221-e6e5-4f13-a0b5-c8b7582ab823" xsi:nil="true"/>
  </documentManagement>
</p:properties>
</file>

<file path=customXml/itemProps1.xml><?xml version="1.0" encoding="utf-8"?>
<ds:datastoreItem xmlns:ds="http://schemas.openxmlformats.org/officeDocument/2006/customXml" ds:itemID="{1BA46151-E51B-40EB-8BFE-B518FDFB65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4108fd0-bac5-48aa-9f20-39453d102dac"/>
    <ds:schemaRef ds:uri="2af0a221-e6e5-4f13-a0b5-c8b7582ab8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9E9E57-5C72-4585-A51A-683F794D65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65292E-844E-470E-AE08-67EA83FC4478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sharepoint/v3"/>
    <ds:schemaRef ds:uri="http://purl.org/dc/terms/"/>
    <ds:schemaRef ds:uri="d4108fd0-bac5-48aa-9f20-39453d102dac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af0a221-e6e5-4f13-a0b5-c8b7582ab823"/>
  </ds:schemaRefs>
</ds:datastoreItem>
</file>

<file path=docMetadata/LabelInfo.xml><?xml version="1.0" encoding="utf-8"?>
<clbl:labelList xmlns:clbl="http://schemas.microsoft.com/office/2020/mipLabelMetadata">
  <clbl:label id="{b1570a06-b0a0-430f-903c-8900da997af4}" enabled="0" method="" siteId="{b1570a06-b0a0-430f-903c-8900da997af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7653</TotalTime>
  <Words>3834</Words>
  <Application>Microsoft Macintosh PowerPoint</Application>
  <PresentationFormat>Widescreen</PresentationFormat>
  <Paragraphs>820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Capability Model v3 — Detailed Pack</dc:title>
  <dc:subject>PptxGenJS Presentation</dc:subject>
  <dc:creator>Cybersecurity Advisory</dc:creator>
  <cp:lastModifiedBy>Sanjay Charavanapavan</cp:lastModifiedBy>
  <cp:revision>1</cp:revision>
  <dcterms:created xsi:type="dcterms:W3CDTF">2026-04-16T04:49:53Z</dcterms:created>
  <dcterms:modified xsi:type="dcterms:W3CDTF">2026-04-21T13:28:14Z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0x01010026ED5E569D553A40AE8A0585BABBF674</vt:lpwstr>
  </property>
  <property fmtid="{D5CDD505-2E9C-101B-9397-08002B2CF9AE}" pid="3" name="MediaServiceImageTags">
    <vt:lpwstr/>
  </property>
</Properties>
</file>